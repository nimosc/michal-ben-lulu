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2"/>
  </p:sldIdLst>
  <p:sldSz cy="21374100" cx="30276800"/>
  <p:notesSz cx="5030775" cy="32019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25">
          <p15:clr>
            <a:srgbClr val="A4A3A4"/>
          </p15:clr>
        </p15:guide>
        <p15:guide id="2" pos="40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jlLES6x4p8HaAj4VW4dTGi0m5y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F039C9-41EA-491F-BF92-9D442EE57FDA}">
  <a:tblStyle styleId="{F5F039C9-41EA-491F-BF92-9D442EE57FD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25" orient="horz"/>
        <p:guide pos="40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:notes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8" name="Google Shape;98;p2:notes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1</a:t>
            </a:r>
            <a:endParaRPr/>
          </a:p>
        </p:txBody>
      </p:sp>
      <p:sp>
        <p:nvSpPr>
          <p:cNvPr id="100" name="Google Shape;100;p2:notes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971448" y="1503987"/>
            <a:ext cx="11009745" cy="1037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942896" y="2743488"/>
            <a:ext cx="9066849" cy="1237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907"/>
              </a:spcBef>
              <a:spcAft>
                <a:spcPts val="0"/>
              </a:spcAft>
              <a:buClr>
                <a:srgbClr val="888888"/>
              </a:buClr>
              <a:buSzPts val="4533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93"/>
              </a:spcBef>
              <a:spcAft>
                <a:spcPts val="0"/>
              </a:spcAft>
              <a:buClr>
                <a:srgbClr val="888888"/>
              </a:buClr>
              <a:buSzPts val="396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3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1023170" y="3111079"/>
            <a:ext cx="11009745" cy="961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66"/>
              <a:buFont typeface="Calibri"/>
              <a:buNone/>
              <a:defRPr b="1" sz="5666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1023170" y="2052013"/>
            <a:ext cx="11009745" cy="10590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 sz="2833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10"/>
              </a:spcBef>
              <a:spcAft>
                <a:spcPts val="0"/>
              </a:spcAft>
              <a:buClr>
                <a:srgbClr val="888888"/>
              </a:buClr>
              <a:buSzPts val="2550"/>
              <a:buNone/>
              <a:defRPr sz="25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3"/>
              </a:spcBef>
              <a:spcAft>
                <a:spcPts val="0"/>
              </a:spcAft>
              <a:buClr>
                <a:srgbClr val="888888"/>
              </a:buClr>
              <a:buSzPts val="2266"/>
              <a:buNone/>
              <a:defRPr sz="2266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47632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584260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647632" y="1083723"/>
            <a:ext cx="5723000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647632" y="1535367"/>
            <a:ext cx="5723000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6579763" y="1083723"/>
            <a:ext cx="5725248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6579763" y="1535367"/>
            <a:ext cx="5725248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647633" y="192761"/>
            <a:ext cx="4261330" cy="8203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064123" y="192762"/>
            <a:ext cx="7240887" cy="4132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algn="l"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Char char="•"/>
              <a:defRPr sz="4533"/>
            </a:lvl1pPr>
            <a:lvl2pPr indent="-480441" lvl="1" marL="9144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–"/>
              <a:defRPr sz="3966"/>
            </a:lvl2pPr>
            <a:lvl3pPr indent="-444500" lvl="2" marL="13716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3pPr>
            <a:lvl4pPr indent="-408496" lvl="3" marL="18288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4pPr>
            <a:lvl5pPr indent="-408495" lvl="4" marL="22860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»"/>
              <a:defRPr sz="2833"/>
            </a:lvl5pPr>
            <a:lvl6pPr indent="-408495" lvl="5" marL="27432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6pPr>
            <a:lvl7pPr indent="-408495" lvl="6" marL="3200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7pPr>
            <a:lvl8pPr indent="-408495" lvl="7" marL="3657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8pPr>
            <a:lvl9pPr indent="-408496" lvl="8" marL="41148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647633" y="1013118"/>
            <a:ext cx="4261330" cy="33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2538808" y="3389014"/>
            <a:ext cx="7771585" cy="400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2538808" y="432593"/>
            <a:ext cx="7771585" cy="290486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2538808" y="3789107"/>
            <a:ext cx="7771585" cy="568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4878755" y="-3101451"/>
            <a:ext cx="3195132" cy="11657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8782377" y="802171"/>
            <a:ext cx="4130921" cy="291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2845750" y="-2004234"/>
            <a:ext cx="4130921" cy="8527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 b="0" i="0" sz="62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marR="0" rtl="0" algn="l"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Font typeface="Arial"/>
              <a:buChar char="•"/>
              <a:defRPr b="0" i="0" sz="45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80441" lvl="1" marL="914400" marR="0" rtl="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Font typeface="Arial"/>
              <a:buChar char="–"/>
              <a:defRPr b="0" i="0" sz="396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44500" lvl="2" marL="1371600" marR="0" rtl="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8496" lvl="3" marL="18288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–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8495" lvl="4" marL="22860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»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8495" lvl="5" marL="27432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8495" lvl="6" marL="32004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8495" lvl="7" marL="36576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8496" lvl="8" marL="41148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hyperlink" Target="https://www.davidegroppi.com/en/products/magia-p11708" TargetMode="External"/><Relationship Id="rId6" Type="http://schemas.openxmlformats.org/officeDocument/2006/relationships/hyperlink" Target="https://www.davidegroppi.com/en/products/magia-p11708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hyperlink" Target="https://www.davidegroppi.com/en/products/magia-p11708" TargetMode="External"/><Relationship Id="rId6" Type="http://schemas.openxmlformats.org/officeDocument/2006/relationships/hyperlink" Target="https://www.davidegroppi.com/en/products/magia-p117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551218" y="3955942"/>
            <a:ext cx="10901842" cy="12116380"/>
            <a:chOff x="0" y="0"/>
            <a:chExt cx="23205235" cy="24059389"/>
          </a:xfrm>
        </p:grpSpPr>
        <p:sp>
          <p:nvSpPr>
            <p:cNvPr id="104" name="Google Shape;104;p2"/>
            <p:cNvSpPr/>
            <p:nvPr/>
          </p:nvSpPr>
          <p:spPr>
            <a:xfrm>
              <a:off x="23018" y="61678"/>
              <a:ext cx="23159193" cy="23936091"/>
            </a:xfrm>
            <a:custGeom>
              <a:rect b="b" l="l" r="r" t="t"/>
              <a:pathLst>
                <a:path extrusionOk="0" h="23936091" w="23159193">
                  <a:moveTo>
                    <a:pt x="0" y="0"/>
                  </a:moveTo>
                  <a:lnTo>
                    <a:pt x="23159193" y="0"/>
                  </a:lnTo>
                  <a:lnTo>
                    <a:pt x="23159193" y="23936091"/>
                  </a:lnTo>
                  <a:lnTo>
                    <a:pt x="0" y="23936091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0" l="-1948" r="-1941" t="-257"/>
              </a:stretch>
            </a:blipFill>
            <a:ln>
              <a:noFill/>
            </a:ln>
          </p:spPr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23205235" cy="24059389"/>
            </a:xfrm>
            <a:custGeom>
              <a:rect b="b" l="l" r="r" t="t"/>
              <a:pathLst>
                <a:path extrusionOk="0" h="24059389" w="23205235">
                  <a:moveTo>
                    <a:pt x="23018" y="0"/>
                  </a:moveTo>
                  <a:lnTo>
                    <a:pt x="23182211" y="0"/>
                  </a:lnTo>
                  <a:cubicBezTo>
                    <a:pt x="23194879" y="0"/>
                    <a:pt x="23205235" y="27413"/>
                    <a:pt x="23205235" y="61678"/>
                  </a:cubicBezTo>
                  <a:lnTo>
                    <a:pt x="23205235" y="23997769"/>
                  </a:lnTo>
                  <a:cubicBezTo>
                    <a:pt x="23205235" y="24031708"/>
                    <a:pt x="23195000" y="24059389"/>
                    <a:pt x="23182211" y="24059389"/>
                  </a:cubicBezTo>
                  <a:lnTo>
                    <a:pt x="23018" y="24059389"/>
                  </a:lnTo>
                  <a:cubicBezTo>
                    <a:pt x="10352" y="24059389"/>
                    <a:pt x="0" y="24032035"/>
                    <a:pt x="0" y="23997769"/>
                  </a:cubicBezTo>
                  <a:lnTo>
                    <a:pt x="0" y="61678"/>
                  </a:lnTo>
                  <a:cubicBezTo>
                    <a:pt x="0" y="27413"/>
                    <a:pt x="10230" y="0"/>
                    <a:pt x="23018" y="0"/>
                  </a:cubicBezTo>
                  <a:moveTo>
                    <a:pt x="23018" y="123030"/>
                  </a:moveTo>
                  <a:lnTo>
                    <a:pt x="23018" y="61678"/>
                  </a:lnTo>
                  <a:lnTo>
                    <a:pt x="45914" y="61678"/>
                  </a:lnTo>
                  <a:lnTo>
                    <a:pt x="45914" y="23997769"/>
                  </a:lnTo>
                  <a:lnTo>
                    <a:pt x="23018" y="23997769"/>
                  </a:lnTo>
                  <a:lnTo>
                    <a:pt x="23018" y="23936091"/>
                  </a:lnTo>
                  <a:lnTo>
                    <a:pt x="23182211" y="23936091"/>
                  </a:lnTo>
                  <a:lnTo>
                    <a:pt x="23182211" y="23997769"/>
                  </a:lnTo>
                  <a:lnTo>
                    <a:pt x="23159194" y="23997769"/>
                  </a:lnTo>
                  <a:lnTo>
                    <a:pt x="23159194" y="61678"/>
                  </a:lnTo>
                  <a:lnTo>
                    <a:pt x="23182211" y="61678"/>
                  </a:lnTo>
                  <a:lnTo>
                    <a:pt x="23182211" y="123030"/>
                  </a:lnTo>
                  <a:lnTo>
                    <a:pt x="23018" y="123030"/>
                  </a:lnTo>
                  <a:close/>
                </a:path>
              </a:pathLst>
            </a:custGeom>
            <a:solidFill>
              <a:srgbClr val="D9D5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551217" y="1823358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 rot="10800000">
            <a:off x="3819363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2"/>
          <p:cNvCxnSpPr/>
          <p:nvPr/>
        </p:nvCxnSpPr>
        <p:spPr>
          <a:xfrm rot="10800000">
            <a:off x="8414194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2"/>
          <p:cNvCxnSpPr/>
          <p:nvPr/>
        </p:nvCxnSpPr>
        <p:spPr>
          <a:xfrm rot="10800000">
            <a:off x="1373155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2"/>
          <p:cNvCxnSpPr/>
          <p:nvPr/>
        </p:nvCxnSpPr>
        <p:spPr>
          <a:xfrm rot="10800000">
            <a:off x="18262450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"/>
          <p:cNvCxnSpPr/>
          <p:nvPr/>
        </p:nvCxnSpPr>
        <p:spPr>
          <a:xfrm rot="10800000">
            <a:off x="2239437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2"/>
          <p:cNvGrpSpPr/>
          <p:nvPr/>
        </p:nvGrpSpPr>
        <p:grpSpPr>
          <a:xfrm>
            <a:off x="520494" y="19283361"/>
            <a:ext cx="14617906" cy="845044"/>
            <a:chOff x="0" y="-19050"/>
            <a:chExt cx="10475254" cy="605561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0475245" cy="586507"/>
            </a:xfrm>
            <a:custGeom>
              <a:rect b="b" l="l" r="r" t="t"/>
              <a:pathLst>
                <a:path extrusionOk="0" h="586507" w="10475245">
                  <a:moveTo>
                    <a:pt x="0" y="0"/>
                  </a:moveTo>
                  <a:lnTo>
                    <a:pt x="10475245" y="0"/>
                  </a:lnTo>
                  <a:lnTo>
                    <a:pt x="10475245" y="586507"/>
                  </a:lnTo>
                  <a:lnTo>
                    <a:pt x="0" y="5865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9148" l="0" r="34155" t="-179148"/>
              </a:stretch>
            </a:blip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19050"/>
              <a:ext cx="10475254" cy="605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l">
                <a:lnSpc>
                  <a:spcPct val="992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w-IL" sz="24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{{קישור_מוצר}}</a:t>
              </a:r>
              <a:endParaRPr/>
            </a:p>
          </p:txBody>
        </p:sp>
      </p:grpSp>
      <p:graphicFrame>
        <p:nvGraphicFramePr>
          <p:cNvPr id="115" name="Google Shape;115;p2"/>
          <p:cNvGraphicFramePr/>
          <p:nvPr/>
        </p:nvGraphicFramePr>
        <p:xfrm>
          <a:off x="24041111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834975"/>
                <a:gridCol w="2087925"/>
              </a:tblGrid>
              <a:tr h="1065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אופטיקה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{{רפלקטור}}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רפלקטור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{{עדשה_כיסוי}}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עדשה/כיסוי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8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{{זווית_הארה}}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זווית הארה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{{כיוונון}}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כיוונון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{{פיזור_אור}}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פיזור אור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6" name="Google Shape;116;p2"/>
          <p:cNvCxnSpPr/>
          <p:nvPr/>
        </p:nvCxnSpPr>
        <p:spPr>
          <a:xfrm rot="10800000">
            <a:off x="28404899" y="3955942"/>
            <a:ext cx="7889" cy="982150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 txBox="1"/>
          <p:nvPr/>
        </p:nvSpPr>
        <p:spPr>
          <a:xfrm>
            <a:off x="20411786" y="7694848"/>
            <a:ext cx="778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223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{{חדרים}}</a:t>
            </a:r>
            <a:endParaRPr/>
          </a:p>
        </p:txBody>
      </p:sp>
      <p:cxnSp>
        <p:nvCxnSpPr>
          <p:cNvPr id="118" name="Google Shape;118;p2"/>
          <p:cNvCxnSpPr/>
          <p:nvPr/>
        </p:nvCxnSpPr>
        <p:spPr>
          <a:xfrm>
            <a:off x="19721644" y="4843305"/>
            <a:ext cx="808585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 rot="10800000">
            <a:off x="26550376" y="16717491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0" name="Google Shape;120;p2"/>
          <p:cNvGraphicFramePr/>
          <p:nvPr/>
        </p:nvGraphicFramePr>
        <p:xfrm>
          <a:off x="17254238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758350"/>
                <a:gridCol w="2882150"/>
              </a:tblGrid>
              <a:tr h="10587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 חשמל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361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{{אורך_חיים}}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אורך חיים של מקור האור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8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{{יעילות}}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יעילות גוף תאורה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8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{{סינוור}}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רמת סינוור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62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{{מיקום_ציוד_עזר}}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מיקום ציוד עזר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6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{{שיטת_שליטה}}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שיטת שליטה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" name="Google Shape;121;p2"/>
          <p:cNvGraphicFramePr/>
          <p:nvPr/>
        </p:nvGraphicFramePr>
        <p:xfrm>
          <a:off x="11660249" y="8990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2751450"/>
                <a:gridCol w="2653225"/>
              </a:tblGrid>
              <a:tr h="948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נתונים פיזיים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058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{{צבע_גמר}}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צבע גמר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{{קוטר_גוף}}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קוטר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7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{{רוחב_גוף}}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רוחב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{{גובה_גוף}}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גובה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06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{{סוג_רוזטה}}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סוג רוזטה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1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{{יבואן}}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יבואן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2" name="Google Shape;122;p2"/>
          <p:cNvCxnSpPr/>
          <p:nvPr/>
        </p:nvCxnSpPr>
        <p:spPr>
          <a:xfrm>
            <a:off x="551217" y="1660797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"/>
          <p:cNvGrpSpPr/>
          <p:nvPr/>
        </p:nvGrpSpPr>
        <p:grpSpPr>
          <a:xfrm>
            <a:off x="673920" y="623695"/>
            <a:ext cx="1123323" cy="1821270"/>
            <a:chOff x="63500" y="63461"/>
            <a:chExt cx="829950" cy="1345607"/>
          </a:xfrm>
        </p:grpSpPr>
        <p:sp>
          <p:nvSpPr>
            <p:cNvPr id="124" name="Google Shape;124;p2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126" name="Google Shape;126;p2"/>
          <p:cNvCxnSpPr/>
          <p:nvPr/>
        </p:nvCxnSpPr>
        <p:spPr>
          <a:xfrm>
            <a:off x="587974" y="2759792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"/>
          <p:cNvSpPr txBox="1"/>
          <p:nvPr/>
        </p:nvSpPr>
        <p:spPr>
          <a:xfrm>
            <a:off x="19440713" y="1938928"/>
            <a:ext cx="10523289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891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כתב כמויות תאורה | {{שם_פרויקט}} {{שם_פרויקט}}  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28703845" y="3554022"/>
            <a:ext cx="776596" cy="1526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9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{{סימון}}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6429952" y="4281950"/>
            <a:ext cx="113139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3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{{שם_מוצר}}</a:t>
            </a:r>
            <a:r>
              <a:rPr b="0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{{יצרן}}  |   דגם  ויצרן  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2525580" y="5786534"/>
            <a:ext cx="1546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{{תיאור}} 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030929" y="16951522"/>
            <a:ext cx="2073029" cy="11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96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{{cri}}</a:t>
            </a:r>
            <a:endParaRPr/>
          </a:p>
          <a:p>
            <a:pPr indent="0" lvl="0" marL="0" marR="0" rtl="0" algn="ctr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5118489" y="16980544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{{לומן}}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לומן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9634818" y="16965015"/>
            <a:ext cx="2747850" cy="1298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{{טמפרטורת_צבע}}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גוון אור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4840535" y="1689328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{{וואט}}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הספק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9291899" y="1696501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{{מתח_זרם}}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מתח/ זרם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27407412" y="16922862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{{כמות_כוללת}}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סה”כ (יח’/מטרים)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23509751" y="16925479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{{ip}}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מוגנות מים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8686846" y="5089180"/>
            <a:ext cx="9193867" cy="459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מק”ט: </a:t>
            </a:r>
            <a:r>
              <a:rPr b="1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{{מקט}}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8823742" y="6884036"/>
            <a:ext cx="919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מקור אור/נורה: {{מקור_אור</a:t>
            </a: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}} 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9138343" y="18567433"/>
            <a:ext cx="10815900" cy="23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הערות: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דרייבר יסופק ע”י ספק גופי תאורה לאחר תיאום מול יועץ בקרה חכם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 לעמעום חייבים לעבור אישור יועץ בקר חכם שהגוף תאורה ניתן לעמעום של עד 1%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{{תווית_הוראות_התקנה}}</a:t>
            </a:r>
            <a:r>
              <a:rPr b="1" lang="iw-IL" sz="2400">
                <a:latin typeface="Calibri"/>
                <a:ea typeface="Calibri"/>
                <a:cs typeface="Calibri"/>
                <a:sym typeface="Calibri"/>
              </a:rPr>
              <a:t>רה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{{קישור_הוראות_התקנה}}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030929" y="1859189"/>
            <a:ext cx="13850674" cy="645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551218" y="3955942"/>
            <a:ext cx="10901842" cy="12116380"/>
            <a:chOff x="0" y="0"/>
            <a:chExt cx="23205235" cy="24059389"/>
          </a:xfrm>
        </p:grpSpPr>
        <p:sp>
          <p:nvSpPr>
            <p:cNvPr id="104" name="Google Shape;104;p2"/>
            <p:cNvSpPr/>
            <p:nvPr/>
          </p:nvSpPr>
          <p:spPr>
            <a:xfrm>
              <a:off x="23018" y="61678"/>
              <a:ext cx="23159193" cy="23936091"/>
            </a:xfrm>
            <a:custGeom>
              <a:rect b="b" l="l" r="r" t="t"/>
              <a:pathLst>
                <a:path extrusionOk="0" h="23936091" w="23159193">
                  <a:moveTo>
                    <a:pt x="0" y="0"/>
                  </a:moveTo>
                  <a:lnTo>
                    <a:pt x="23159193" y="0"/>
                  </a:lnTo>
                  <a:lnTo>
                    <a:pt x="23159193" y="23936091"/>
                  </a:lnTo>
                  <a:lnTo>
                    <a:pt x="0" y="23936091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0" l="-1948" r="-1941" t="-257"/>
              </a:stretch>
            </a:blipFill>
            <a:ln>
              <a:noFill/>
            </a:ln>
          </p:spPr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23205235" cy="24059389"/>
            </a:xfrm>
            <a:custGeom>
              <a:rect b="b" l="l" r="r" t="t"/>
              <a:pathLst>
                <a:path extrusionOk="0" h="24059389" w="23205235">
                  <a:moveTo>
                    <a:pt x="23018" y="0"/>
                  </a:moveTo>
                  <a:lnTo>
                    <a:pt x="23182211" y="0"/>
                  </a:lnTo>
                  <a:cubicBezTo>
                    <a:pt x="23194879" y="0"/>
                    <a:pt x="23205235" y="27413"/>
                    <a:pt x="23205235" y="61678"/>
                  </a:cubicBezTo>
                  <a:lnTo>
                    <a:pt x="23205235" y="23997769"/>
                  </a:lnTo>
                  <a:cubicBezTo>
                    <a:pt x="23205235" y="24031708"/>
                    <a:pt x="23195000" y="24059389"/>
                    <a:pt x="23182211" y="24059389"/>
                  </a:cubicBezTo>
                  <a:lnTo>
                    <a:pt x="23018" y="24059389"/>
                  </a:lnTo>
                  <a:cubicBezTo>
                    <a:pt x="10352" y="24059389"/>
                    <a:pt x="0" y="24032035"/>
                    <a:pt x="0" y="23997769"/>
                  </a:cubicBezTo>
                  <a:lnTo>
                    <a:pt x="0" y="61678"/>
                  </a:lnTo>
                  <a:cubicBezTo>
                    <a:pt x="0" y="27413"/>
                    <a:pt x="10230" y="0"/>
                    <a:pt x="23018" y="0"/>
                  </a:cubicBezTo>
                  <a:moveTo>
                    <a:pt x="23018" y="123030"/>
                  </a:moveTo>
                  <a:lnTo>
                    <a:pt x="23018" y="61678"/>
                  </a:lnTo>
                  <a:lnTo>
                    <a:pt x="45914" y="61678"/>
                  </a:lnTo>
                  <a:lnTo>
                    <a:pt x="45914" y="23997769"/>
                  </a:lnTo>
                  <a:lnTo>
                    <a:pt x="23018" y="23997769"/>
                  </a:lnTo>
                  <a:lnTo>
                    <a:pt x="23018" y="23936091"/>
                  </a:lnTo>
                  <a:lnTo>
                    <a:pt x="23182211" y="23936091"/>
                  </a:lnTo>
                  <a:lnTo>
                    <a:pt x="23182211" y="23997769"/>
                  </a:lnTo>
                  <a:lnTo>
                    <a:pt x="23159194" y="23997769"/>
                  </a:lnTo>
                  <a:lnTo>
                    <a:pt x="23159194" y="61678"/>
                  </a:lnTo>
                  <a:lnTo>
                    <a:pt x="23182211" y="61678"/>
                  </a:lnTo>
                  <a:lnTo>
                    <a:pt x="23182211" y="123030"/>
                  </a:lnTo>
                  <a:lnTo>
                    <a:pt x="23018" y="123030"/>
                  </a:lnTo>
                  <a:close/>
                </a:path>
              </a:pathLst>
            </a:custGeom>
            <a:solidFill>
              <a:srgbClr val="D9D5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551217" y="1823358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 rot="10800000">
            <a:off x="3819363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2"/>
          <p:cNvCxnSpPr/>
          <p:nvPr/>
        </p:nvCxnSpPr>
        <p:spPr>
          <a:xfrm rot="10800000">
            <a:off x="8414194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2"/>
          <p:cNvCxnSpPr/>
          <p:nvPr/>
        </p:nvCxnSpPr>
        <p:spPr>
          <a:xfrm rot="10800000">
            <a:off x="1373155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2"/>
          <p:cNvCxnSpPr/>
          <p:nvPr/>
        </p:nvCxnSpPr>
        <p:spPr>
          <a:xfrm rot="10800000">
            <a:off x="18262450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"/>
          <p:cNvCxnSpPr/>
          <p:nvPr/>
        </p:nvCxnSpPr>
        <p:spPr>
          <a:xfrm rot="10800000">
            <a:off x="2239437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2"/>
          <p:cNvGrpSpPr/>
          <p:nvPr/>
        </p:nvGrpSpPr>
        <p:grpSpPr>
          <a:xfrm>
            <a:off x="520494" y="19283361"/>
            <a:ext cx="14617906" cy="845044"/>
            <a:chOff x="0" y="-19050"/>
            <a:chExt cx="10475254" cy="605561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0475245" cy="586507"/>
            </a:xfrm>
            <a:custGeom>
              <a:rect b="b" l="l" r="r" t="t"/>
              <a:pathLst>
                <a:path extrusionOk="0" h="586507" w="10475245">
                  <a:moveTo>
                    <a:pt x="0" y="0"/>
                  </a:moveTo>
                  <a:lnTo>
                    <a:pt x="10475245" y="0"/>
                  </a:lnTo>
                  <a:lnTo>
                    <a:pt x="10475245" y="586507"/>
                  </a:lnTo>
                  <a:lnTo>
                    <a:pt x="0" y="5865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9148" l="0" r="34155" t="-179148"/>
              </a:stretch>
            </a:blip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19050"/>
              <a:ext cx="10475254" cy="605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l">
                <a:lnSpc>
                  <a:spcPct val="992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w-IL" sz="24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{{קישור_מוצר}}</a:t>
              </a:r>
              <a:endParaRPr/>
            </a:p>
          </p:txBody>
        </p:sp>
      </p:grpSp>
      <p:graphicFrame>
        <p:nvGraphicFramePr>
          <p:cNvPr id="115" name="Google Shape;115;p2"/>
          <p:cNvGraphicFramePr/>
          <p:nvPr/>
        </p:nvGraphicFramePr>
        <p:xfrm>
          <a:off x="24041111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834975"/>
                <a:gridCol w="2087925"/>
              </a:tblGrid>
              <a:tr h="1065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אופטיקה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{{רפלקטור}}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רפלקטור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{{עדשה_כיסוי}}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עדשה/כיסוי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8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{{זווית_הארה}}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זווית הארה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{{כיוונון}}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כיוונון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{{פיזור_אור}}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פיזור אור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6" name="Google Shape;116;p2"/>
          <p:cNvCxnSpPr/>
          <p:nvPr/>
        </p:nvCxnSpPr>
        <p:spPr>
          <a:xfrm rot="10800000">
            <a:off x="28404899" y="3955942"/>
            <a:ext cx="7889" cy="982150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 txBox="1"/>
          <p:nvPr/>
        </p:nvSpPr>
        <p:spPr>
          <a:xfrm>
            <a:off x="20411786" y="7694848"/>
            <a:ext cx="778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223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{{חדרים}}</a:t>
            </a:r>
            <a:endParaRPr/>
          </a:p>
        </p:txBody>
      </p:sp>
      <p:cxnSp>
        <p:nvCxnSpPr>
          <p:cNvPr id="118" name="Google Shape;118;p2"/>
          <p:cNvCxnSpPr/>
          <p:nvPr/>
        </p:nvCxnSpPr>
        <p:spPr>
          <a:xfrm>
            <a:off x="19721644" y="4843305"/>
            <a:ext cx="808585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 rot="10800000">
            <a:off x="26550376" y="16717491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0" name="Google Shape;120;p2"/>
          <p:cNvGraphicFramePr/>
          <p:nvPr/>
        </p:nvGraphicFramePr>
        <p:xfrm>
          <a:off x="17254238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758350"/>
                <a:gridCol w="2882150"/>
              </a:tblGrid>
              <a:tr h="10587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 חשמל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361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{{אורך_חיים}}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אורך חיים של מקור האור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8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{{יעילות}}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יעילות גוף תאורה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8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{{סינוור}}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רמת סינוור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62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{{מיקום_ציוד_עזר}}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מיקום ציוד עזר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6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{{שיטת_שליטה}}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שיטת שליטה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" name="Google Shape;121;p2"/>
          <p:cNvGraphicFramePr/>
          <p:nvPr/>
        </p:nvGraphicFramePr>
        <p:xfrm>
          <a:off x="11660249" y="8990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2751450"/>
                <a:gridCol w="2653225"/>
              </a:tblGrid>
              <a:tr h="948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נתונים פיזיים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058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{{צבע_גמר}}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צבע גמר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{{קוטר_גוף}}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קוטר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7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{{רוחב_גוף}}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רוחב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{{גובה_גוף}}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גובה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06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{{סוג_רוזטה}}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סוג רוזטה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1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{{יבואן}}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יבואן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2" name="Google Shape;122;p2"/>
          <p:cNvCxnSpPr/>
          <p:nvPr/>
        </p:nvCxnSpPr>
        <p:spPr>
          <a:xfrm>
            <a:off x="551217" y="1660797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"/>
          <p:cNvGrpSpPr/>
          <p:nvPr/>
        </p:nvGrpSpPr>
        <p:grpSpPr>
          <a:xfrm>
            <a:off x="673920" y="623695"/>
            <a:ext cx="1123323" cy="1821270"/>
            <a:chOff x="63500" y="63461"/>
            <a:chExt cx="829950" cy="1345607"/>
          </a:xfrm>
        </p:grpSpPr>
        <p:sp>
          <p:nvSpPr>
            <p:cNvPr id="124" name="Google Shape;124;p2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126" name="Google Shape;126;p2"/>
          <p:cNvCxnSpPr/>
          <p:nvPr/>
        </p:nvCxnSpPr>
        <p:spPr>
          <a:xfrm>
            <a:off x="587974" y="2759792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"/>
          <p:cNvSpPr txBox="1"/>
          <p:nvPr/>
        </p:nvSpPr>
        <p:spPr>
          <a:xfrm>
            <a:off x="19440713" y="1938928"/>
            <a:ext cx="10523289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891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כתב כמויות תאורה | {{שם_פרויקט}} {{שם_פרויקט}}  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28703845" y="3554022"/>
            <a:ext cx="776596" cy="1526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9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{{סימון}}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6429952" y="4281950"/>
            <a:ext cx="113139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3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{{שם_מוצר}}</a:t>
            </a:r>
            <a:r>
              <a:rPr b="0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{{יצרן}}  |   דגם  ויצרן  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2525580" y="5786534"/>
            <a:ext cx="1546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{{תיאור}} 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030929" y="16951522"/>
            <a:ext cx="2073029" cy="11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96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{{cri}}</a:t>
            </a:r>
            <a:endParaRPr/>
          </a:p>
          <a:p>
            <a:pPr indent="0" lvl="0" marL="0" marR="0" rtl="0" algn="ctr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5118489" y="16980544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{{לומן}}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לומן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9634818" y="16965015"/>
            <a:ext cx="2747850" cy="1298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{{טמפרטורת_צבע}}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גוון אור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4840535" y="1689328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{{וואט}}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הספק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9291899" y="1696501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{{מתח_זרם}}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מתח/ זרם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27407412" y="16922862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{{כמות_כוללת}}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סה”כ (יח’/מטרים)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23509751" y="16925479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{{ip}}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מוגנות מים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8686846" y="5089180"/>
            <a:ext cx="9193867" cy="459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מק”ט: </a:t>
            </a:r>
            <a:r>
              <a:rPr b="1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{{מקט}}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8823742" y="6884036"/>
            <a:ext cx="919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מקור אור/נורה: {{מקור_אור</a:t>
            </a: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}} 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9138343" y="18567433"/>
            <a:ext cx="10815900" cy="23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הערות: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דרייבר יסופק ע”י ספק גופי תאורה לאחר תיאום מול יועץ בקרה חכם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 לעמעום חייבים לעבור אישור יועץ בקר חכם שהגוף תאורה ניתן לעמעום של עד 1%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{{תווית_הוראות_התקנה}}</a:t>
            </a:r>
            <a:r>
              <a:rPr b="1" lang="iw-IL" sz="2400">
                <a:latin typeface="Calibri"/>
                <a:ea typeface="Calibri"/>
                <a:cs typeface="Calibri"/>
                <a:sym typeface="Calibri"/>
              </a:rPr>
              <a:t>רה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{{קישור_הוראות_התקנה}}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030929" y="1859189"/>
            <a:ext cx="13850674" cy="645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